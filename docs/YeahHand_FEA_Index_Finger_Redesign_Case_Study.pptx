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85"/>
  </p:normalViewPr>
  <p:slideViewPr>
    <p:cSldViewPr snapToGrid="0" snapToObjects="1">
      <p:cViewPr varScale="1">
        <p:scale>
          <a:sx n="89" d="100"/>
          <a:sy n="89" d="100"/>
        </p:scale>
        <p:origin x="440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" y="35103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749763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A46"/>
                </a:solidFill>
              </a:defRPr>
            </a:pPr>
            <a:r>
              <a:rPr dirty="0"/>
              <a:t>Tendon-Driven Robotic Hand </a:t>
            </a:r>
            <a:r>
              <a:rPr lang="sv-SE" dirty="0"/>
              <a:t>-</a:t>
            </a:r>
            <a:r>
              <a:rPr dirty="0"/>
              <a:t> FEA Failure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22376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474"/>
                </a:solidFill>
              </a:defRPr>
            </a:pPr>
            <a:r>
              <a:t>ABS/TPU finger structure | Structural simulation, failure localization and geometry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4773287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5B96"/>
                </a:solidFill>
              </a:defRPr>
            </a:pPr>
            <a:r>
              <a:rPr dirty="0"/>
              <a:t>Engineering objective</a:t>
            </a:r>
          </a:p>
          <a:p>
            <a:pPr>
              <a:defRPr sz="2200" b="1">
                <a:solidFill>
                  <a:srgbClr val="132A46"/>
                </a:solidFill>
              </a:defRPr>
            </a:pPr>
            <a:r>
              <a:rPr sz="1100" dirty="0"/>
              <a:t>Identify why the 3D-printed ABS finger was cracking around the TPU tendon-channel exit, reproduce the failure region in FEA, and redesign the local load path without adding unnecessary mass.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235" y="4325620"/>
            <a:ext cx="3337560" cy="2413000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4315" y="4193210"/>
            <a:ext cx="3337560" cy="82296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453999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My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857" y="4894443"/>
            <a:ext cx="2935224" cy="1702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Prepared/simplified CAD for structural analysis.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Defined ABS</a:t>
            </a:r>
            <a:r>
              <a:rPr lang="en-SE" dirty="0"/>
              <a:t>-</a:t>
            </a:r>
            <a:r>
              <a:rPr dirty="0"/>
              <a:t>TPU contact, supports, symmetry and tendon loading.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Refined the critical region and interpreted von Mises stress.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Implemented and evaluated a radius-based redesign.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8881" y="4407915"/>
            <a:ext cx="3337560" cy="2423326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16831" y="4188637"/>
            <a:ext cx="3337560" cy="82296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3384" y="4413329"/>
            <a:ext cx="10297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rPr dirty="0"/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9432" y="4786608"/>
            <a:ext cx="2935224" cy="187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Baseline breakage zone stress: 38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49 MPa.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Critical breakage-zone stress after 0.3 mm radius: 18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24 MPa.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Critical breakage-zone stress reduced from 38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49 MPa to 18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24 MPa.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The 0.3 mm radius moved the critical zone below the stated injection-molded ABS yield range and into/near the expected FDM ABS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7504" y="6404086"/>
            <a:ext cx="397763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56474"/>
                </a:solidFill>
              </a:defRPr>
            </a:pPr>
            <a:r>
              <a:rPr dirty="0"/>
              <a:t>Redesign result shown in ANSYS Mechanical; display contour capped at 49.9 MPa for visibility.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10691B-3F63-0EAC-E9F3-65A3F865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662" y="745058"/>
            <a:ext cx="6055668" cy="28426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21E623-2456-1320-6B9D-8769569C7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441" y="3675506"/>
            <a:ext cx="4917439" cy="23083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50041A-03DF-2143-8E38-509DF6D88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153058"/>
            <a:ext cx="2106654" cy="1795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5661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A46"/>
                </a:solidFill>
              </a:defRPr>
            </a:pPr>
            <a:r>
              <a:t>1 | Problem Definition &amp; Component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22376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474"/>
                </a:solidFill>
              </a:defRPr>
            </a:pPr>
            <a:r>
              <a:t>The finger combines a rigid load-bearing polymer structure with a compliant tendon-routing feature.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825734" cy="1975104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2825734" cy="45719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1732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ABS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254143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Provides the rigid finger geometry and primary structural load path.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Transfers tendon reaction forces into the finger body.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Observed physical failure occurred near the tendon-channel exit.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1262" y="1362456"/>
            <a:ext cx="3345872" cy="1975104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70019" y="1197864"/>
            <a:ext cx="3429000" cy="82296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43731" y="1403604"/>
            <a:ext cx="16407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TPU tendon canal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2725" y="1833372"/>
            <a:ext cx="30266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Provides a compliant routing surface for the actuating tendon.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Interfaces directly with the rigid ABS structure.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TPU remained intact while the surrounding ABS was the critical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2725" y="3886200"/>
            <a:ext cx="3296294" cy="2002536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43731" y="3657006"/>
            <a:ext cx="3429000" cy="82296"/>
          </a:xfrm>
          <a:prstGeom prst="rect">
            <a:avLst/>
          </a:prstGeom>
          <a:solidFill>
            <a:srgbClr val="B9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9862" y="3923548"/>
            <a:ext cx="171966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rPr dirty="0"/>
              <a:t>Failure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187" y="4293108"/>
            <a:ext cx="30266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Abrupt geometry/material transition concentrates load locally.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Tendon reaction is transferred from compliant TPU into rigid ABS.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Local yielding can initiate deformation and subsequent cracking.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825734" cy="2103120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flipV="1">
            <a:off x="594360" y="3657601"/>
            <a:ext cx="2742606" cy="45719"/>
          </a:xfrm>
          <a:prstGeom prst="rect">
            <a:avLst/>
          </a:prstGeom>
          <a:solidFill>
            <a:srgbClr val="BE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886200"/>
            <a:ext cx="14964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Design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325112"/>
            <a:ext cx="2066425" cy="129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Can the local geometry be modified so the tendon reaction spreads into a larger volume of ABS, reducing the stress concentration while preserving the tendon path and finger function?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0B6084-5348-33BB-59E6-9F16C896A3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164" y="156951"/>
            <a:ext cx="4502921" cy="376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26ED146-1A70-6277-3231-80188B083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64" y="3931044"/>
            <a:ext cx="3138122" cy="29188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" y="37853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A46"/>
                </a:solidFill>
              </a:defRPr>
            </a:pPr>
            <a:r>
              <a:t>2 | FEA Model &amp; Boundary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22376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474"/>
                </a:solidFill>
              </a:defRPr>
            </a:pPr>
            <a:r>
              <a:t>Static structural model established as a repeatable comparison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2731918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3429000" cy="82296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1732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Model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" y="1856232"/>
            <a:ext cx="3170225" cy="195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ANSYS Mechanical static structural analysis.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Separate ABS and TPU bodies with bonded interface.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Symmetry represented with a frictionless support on the cut plane.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Bottom ABS mounting interface fixed in all directions.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Local mesh refinement used around the tendon exit and material transition.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2411285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429000" cy="82296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41732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56232"/>
            <a:ext cx="296905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Remote force applied to the TPU tendon-load face.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Baseline force: </a:t>
            </a:r>
            <a:r>
              <a:rPr lang="sv-SE" dirty="0"/>
              <a:t>72</a:t>
            </a:r>
            <a:r>
              <a:rPr dirty="0"/>
              <a:t> N.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Force direction aligned with the tendon pulling direction in the model.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</a:t>
            </a:r>
            <a:r>
              <a:rPr lang="en-SE" dirty="0"/>
              <a:t>72</a:t>
            </a:r>
            <a:r>
              <a:rPr dirty="0"/>
              <a:t> N retained across design iterations so geometry changes can be compared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520440" cy="2411285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3520440" cy="82296"/>
          </a:xfrm>
          <a:prstGeom prst="rect">
            <a:avLst/>
          </a:prstGeom>
          <a:solidFill>
            <a:srgbClr val="BE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17320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Load-model caveat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56232"/>
            <a:ext cx="3102865" cy="152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Servo specification provided: 25 kg·cm ≈ 2.45 </a:t>
            </a:r>
            <a:r>
              <a:rPr dirty="0" err="1"/>
              <a:t>N·m</a:t>
            </a:r>
            <a:r>
              <a:rPr dirty="0"/>
              <a:t> torque.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Tendon radius: 0.8 mm.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Actual tendon tension also requires the effective servo horn/spool radius.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Therefore </a:t>
            </a:r>
            <a:r>
              <a:rPr lang="sv-SE" dirty="0"/>
              <a:t>72</a:t>
            </a:r>
            <a:r>
              <a:rPr dirty="0"/>
              <a:t> N is a controlled baseline, not yet the final validated service load.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A69A61-51C0-9F35-6B3D-7232122B9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39750"/>
            <a:ext cx="5245215" cy="24622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0BD309-72A9-AECB-D34E-A6CF3BE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143" y="3978234"/>
            <a:ext cx="5731510" cy="2690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654942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A46"/>
                </a:solidFill>
              </a:defRPr>
            </a:pPr>
            <a:r>
              <a:rPr dirty="0"/>
              <a:t>3 | Baseline Finding </a:t>
            </a:r>
            <a:r>
              <a:rPr lang="en-SE" dirty="0"/>
              <a:t>-</a:t>
            </a:r>
            <a:r>
              <a:rPr dirty="0"/>
              <a:t> Local Stress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22376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474"/>
                </a:solidFill>
              </a:defRPr>
            </a:pPr>
            <a:r>
              <a:t>The simulation reproduced a mechanically plausible failure zone at the tendon-channel exit.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3657600" cy="82296"/>
          </a:xfrm>
          <a:prstGeom prst="rect">
            <a:avLst/>
          </a:prstGeom>
          <a:solidFill>
            <a:srgbClr val="B9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17320"/>
            <a:ext cx="3255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Baseline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3255264" cy="1702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Critical physical breakage-zone stress: approximately 38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49 MPa in the baseline model.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High-stress region localized around the ABS adjacent to the tendon-channel exit.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The rest of the structure remained comparatively low stressed.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/>
              <a:t>• This points to a local load-path problem rather than a need to thicken the entire finger.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234440"/>
            <a:ext cx="3429000" cy="82296"/>
          </a:xfrm>
          <a:prstGeom prst="rect">
            <a:avLst/>
          </a:prstGeom>
          <a:solidFill>
            <a:srgbClr val="BE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1732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Material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56232"/>
            <a:ext cx="3026664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20272E"/>
                </a:solidFill>
              </a:defRPr>
            </a:pPr>
            <a:r>
              <a:rPr dirty="0"/>
              <a:t>• Injection-molded ABS tensile yield strength: approximately 29.6</a:t>
            </a:r>
            <a:r>
              <a:rPr lang="en-SE" dirty="0"/>
              <a:t>-</a:t>
            </a:r>
            <a:r>
              <a:rPr dirty="0"/>
              <a:t>48 MPa.</a:t>
            </a:r>
          </a:p>
          <a:p>
            <a:pPr>
              <a:spcAft>
                <a:spcPts val="500"/>
              </a:spcAft>
              <a:defRPr sz="1060">
                <a:solidFill>
                  <a:srgbClr val="20272E"/>
                </a:solidFill>
              </a:defRPr>
            </a:pPr>
            <a:r>
              <a:rPr dirty="0"/>
              <a:t>• Injection-molded ABS tensile break/ultimate strength: approximately 29.8</a:t>
            </a:r>
            <a:r>
              <a:rPr lang="en-SE" dirty="0"/>
              <a:t>-</a:t>
            </a:r>
            <a:r>
              <a:rPr dirty="0"/>
              <a:t>43 MPa.</a:t>
            </a:r>
          </a:p>
          <a:p>
            <a:pPr>
              <a:spcAft>
                <a:spcPts val="500"/>
              </a:spcAft>
              <a:defRPr sz="1060">
                <a:solidFill>
                  <a:srgbClr val="20272E"/>
                </a:solidFill>
              </a:defRPr>
            </a:pPr>
            <a:r>
              <a:rPr dirty="0"/>
              <a:t>• FDM ABS is typically lower and process-dependent; a practical comparison range is about 20</a:t>
            </a:r>
            <a:r>
              <a:rPr lang="en-SE" dirty="0"/>
              <a:t>-</a:t>
            </a:r>
            <a:r>
              <a:rPr dirty="0"/>
              <a:t>35 MPa.</a:t>
            </a:r>
          </a:p>
          <a:p>
            <a:pPr>
              <a:spcAft>
                <a:spcPts val="500"/>
              </a:spcAft>
              <a:defRPr sz="1060">
                <a:solidFill>
                  <a:srgbClr val="20272E"/>
                </a:solidFill>
              </a:defRPr>
            </a:pPr>
            <a:r>
              <a:rPr dirty="0"/>
              <a:t>• Baseline breakage-zone stress of 38</a:t>
            </a:r>
            <a:r>
              <a:rPr lang="en-SE" dirty="0"/>
              <a:t>-</a:t>
            </a:r>
            <a:r>
              <a:rPr dirty="0"/>
              <a:t>49 MPa is therefore consistent with a high risk of local yielding/cracking, especially for FDM material.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38328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383280" cy="82296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417320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t>Engineering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856232"/>
            <a:ext cx="298094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Target the geometric discontinuity at the tendon exit.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>
                <a:solidFill/>
              </a:rPr>
              <a:t>• Add a 0.3 mm local transition radius to reduce the stress concentration.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t>• Keep the same boundary conditions and load for an apples-to-apples redesign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0650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653377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A46"/>
                </a:solidFill>
              </a:defRPr>
            </a:pPr>
            <a:r>
              <a:rPr dirty="0"/>
              <a:t>4 | Redesign Iteration </a:t>
            </a:r>
            <a:r>
              <a:rPr lang="en-SE" dirty="0"/>
              <a:t>-</a:t>
            </a:r>
            <a:r>
              <a:rPr dirty="0"/>
              <a:t> Added Transition Radius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22376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474"/>
                </a:solidFill>
              </a:defRPr>
            </a:pPr>
            <a:r>
              <a:rPr>
                <a:solidFill/>
              </a:rPr>
              <a:t>A 0.3 mm local transition radius substantially reduced stress in the physical breakage zone.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69540" y="3826485"/>
            <a:ext cx="169164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B93737"/>
                </a:solidFill>
              </a:defRPr>
            </a:pPr>
            <a:r>
              <a:rPr dirty="0">
                <a:solidFill/>
              </a:rPr>
              <a:t>38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49 MPa</a:t>
            </a:r>
          </a:p>
          <a:p>
            <a:pPr algn="ctr">
              <a:defRPr sz="1000">
                <a:solidFill>
                  <a:srgbClr val="556474"/>
                </a:solidFill>
              </a:defRPr>
            </a:pPr>
            <a:r>
              <a:rPr dirty="0">
                <a:solidFill/>
              </a:rPr>
              <a:t>Baseline breakage zone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0130" y="3826485"/>
            <a:ext cx="169164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7D52"/>
                </a:solidFill>
              </a:defRPr>
            </a:pPr>
            <a:r>
              <a:rPr dirty="0">
                <a:solidFill/>
              </a:rPr>
              <a:t>18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24 MPa</a:t>
            </a:r>
          </a:p>
          <a:p>
            <a:pPr algn="ctr">
              <a:defRPr sz="1000">
                <a:solidFill>
                  <a:srgbClr val="556474"/>
                </a:solidFill>
              </a:defRPr>
            </a:pPr>
            <a:r>
              <a:rPr dirty="0">
                <a:solidFill/>
              </a:rPr>
              <a:t>0.3 mm radius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99207" y="4135744"/>
            <a:ext cx="2926080" cy="658368"/>
          </a:xfrm>
          <a:prstGeom prst="rightArrow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>
                <a:solidFill/>
              </a:rPr>
              <a:t>37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63%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0" y="5529010"/>
            <a:ext cx="5128260" cy="1305319"/>
          </a:xfrm>
          <a:prstGeom prst="roundRect">
            <a:avLst/>
          </a:prstGeom>
          <a:solidFill>
            <a:srgbClr val="F2F6FA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8954" y="5392949"/>
            <a:ext cx="3703320" cy="82296"/>
          </a:xfrm>
          <a:prstGeom prst="rect">
            <a:avLst/>
          </a:prstGeom>
          <a:solidFill>
            <a:srgbClr val="2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65" y="5470941"/>
            <a:ext cx="13788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A46"/>
                </a:solidFill>
              </a:defRPr>
            </a:pPr>
            <a:r>
              <a:rPr dirty="0"/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5684724"/>
            <a:ext cx="501065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The 0.3 mm radius smooths the local load path and reduces the breakage-zone stress from 38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49 MPa to 18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24 MPa.</a:t>
            </a:r>
          </a:p>
          <a:p>
            <a:pPr>
              <a:spcAft>
                <a:spcPts val="600"/>
              </a:spcAft>
              <a:defRPr sz="1120">
                <a:solidFill>
                  <a:srgbClr val="20272E"/>
                </a:solidFill>
              </a:defRPr>
            </a:pPr>
            <a:r>
              <a:rPr dirty="0">
                <a:solidFill/>
              </a:rPr>
              <a:t>• The redesign removes the original 38</a:t>
            </a:r>
            <a:r>
              <a:rPr lang="en-SE" dirty="0">
                <a:solidFill/>
              </a:rPr>
              <a:t>-</a:t>
            </a:r>
            <a:r>
              <a:rPr dirty="0">
                <a:solidFill/>
              </a:rPr>
              <a:t>49 MPa hotspot from the physical failure zone; final acceptance still requires the actual printed ABS material/process allowable.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0440" y="5564302"/>
            <a:ext cx="4050792" cy="493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>
                <a:solidFill>
                  <a:srgbClr val="556474"/>
                </a:solidFill>
              </a:defRPr>
            </a:pPr>
            <a:r>
              <a:t>Important: evaluation is focused on the known physical breakage zone, not the model’s absolute global maximum. The displayed contour limit is a visualization setting.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F79E78-7521-7738-572B-F07E2393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1" y="1055967"/>
            <a:ext cx="3884930" cy="4483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1A7077-3758-1054-39FD-0316FF6E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82" y="935669"/>
            <a:ext cx="6075177" cy="2851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22B46"/>
                </a:solidFill>
                <a:latin typeface="Aptos"/>
              </a:defRPr>
            </a:pPr>
            <a:r>
              <a:t>5 | Engineering Conclusion &amp; Design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546577"/>
                </a:solidFill>
                <a:latin typeface="Aptos"/>
              </a:defRPr>
            </a:pPr>
            <a:r>
              <a:rPr dirty="0"/>
              <a:t>Case closed: a 0.3 mm radius at the ABS tendon-canal transition is the recommended design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7033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703320" cy="393192"/>
          </a:xfrm>
          <a:prstGeom prst="rect">
            <a:avLst/>
          </a:prstGeom>
          <a:solidFill>
            <a:srgbClr val="2B6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179576"/>
            <a:ext cx="3429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A. Root cause 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143000"/>
            <a:ext cx="37033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5968" y="1143000"/>
            <a:ext cx="3703320" cy="393192"/>
          </a:xfrm>
          <a:prstGeom prst="rect">
            <a:avLst/>
          </a:prstGeom>
          <a:solidFill>
            <a:srgbClr val="BE8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1179576"/>
            <a:ext cx="3429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B. Corrective action — 0.3 mm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143000"/>
            <a:ext cx="3547872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29016" y="1143000"/>
            <a:ext cx="3547872" cy="393192"/>
          </a:xfrm>
          <a:prstGeom prst="rect">
            <a:avLst/>
          </a:prstGeom>
          <a:solidFill>
            <a:srgbClr val="25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179576"/>
            <a:ext cx="32735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C. Result — solution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679270"/>
            <a:ext cx="3291840" cy="719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0">
                <a:solidFill>
                  <a:srgbClr val="122B46"/>
                </a:solidFill>
                <a:latin typeface="Aptos"/>
              </a:defRPr>
            </a:pPr>
            <a:r>
              <a:rPr dirty="0"/>
              <a:t>• Physical failure occurs at the ABS transition beside the TPU tendon canal.</a:t>
            </a:r>
            <a:br>
              <a:rPr dirty="0"/>
            </a:br>
            <a:r>
              <a:rPr dirty="0"/>
              <a:t>• Baseline FEA shows 38</a:t>
            </a:r>
            <a:r>
              <a:rPr lang="en-SE" dirty="0"/>
              <a:t>-</a:t>
            </a:r>
            <a:r>
              <a:rPr dirty="0"/>
              <a:t>49 MPa in the known breakage zone.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64208"/>
            <a:ext cx="3246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0">
                <a:solidFill>
                  <a:srgbClr val="122B46"/>
                </a:solidFill>
                <a:latin typeface="Aptos"/>
              </a:defRPr>
            </a:pPr>
            <a:r>
              <a:t>• Added a 0.3 mm fillet at the critical ABS transition.</a:t>
            </a:r>
            <a:br/>
            <a:r>
              <a:t>• Smooths the load path without changing tendon routing or overall finger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738706"/>
            <a:ext cx="3108960" cy="719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9" b="0">
                <a:solidFill>
                  <a:srgbClr val="122B46"/>
                </a:solidFill>
                <a:latin typeface="Aptos"/>
              </a:defRPr>
            </a:pPr>
            <a:r>
              <a:rPr dirty="0"/>
              <a:t>• Critical-zone stress reduced to 18</a:t>
            </a:r>
            <a:r>
              <a:rPr lang="en-SE" dirty="0"/>
              <a:t>-</a:t>
            </a:r>
            <a:r>
              <a:rPr dirty="0"/>
              <a:t>24 MPa.</a:t>
            </a:r>
            <a:br>
              <a:rPr dirty="0"/>
            </a:br>
            <a:r>
              <a:rPr dirty="0"/>
              <a:t>• ≈37</a:t>
            </a:r>
            <a:r>
              <a:rPr lang="en-SE" dirty="0"/>
              <a:t>-</a:t>
            </a:r>
            <a:r>
              <a:rPr dirty="0"/>
              <a:t>63% reduction versus baseline.</a:t>
            </a:r>
            <a:br>
              <a:rPr dirty="0"/>
            </a:br>
            <a:r>
              <a:rPr dirty="0"/>
              <a:t>• Removes the original failure-producing stress state.</a:t>
            </a:r>
          </a:p>
        </p:txBody>
      </p:sp>
      <p:pic>
        <p:nvPicPr>
          <p:cNvPr id="17" name="Picture 16" descr="crop_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87752"/>
            <a:ext cx="3273552" cy="2240280"/>
          </a:xfrm>
          <a:prstGeom prst="rect">
            <a:avLst/>
          </a:prstGeom>
        </p:spPr>
      </p:pic>
      <p:pic>
        <p:nvPicPr>
          <p:cNvPr id="18" name="Picture 17" descr="crop_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587752"/>
            <a:ext cx="3246120" cy="2240280"/>
          </a:xfrm>
          <a:prstGeom prst="rect">
            <a:avLst/>
          </a:prstGeom>
        </p:spPr>
      </p:pic>
      <p:pic>
        <p:nvPicPr>
          <p:cNvPr id="19" name="Picture 18" descr="crop_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2587752"/>
            <a:ext cx="3090672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4938818"/>
            <a:ext cx="306324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E2D2D"/>
                </a:solidFill>
                <a:latin typeface="Aptos"/>
              </a:defRPr>
            </a:pPr>
            <a:r>
              <a:rPr dirty="0"/>
              <a:t>Baseline breakage zone: 38</a:t>
            </a:r>
            <a:r>
              <a:rPr lang="en-SE" dirty="0"/>
              <a:t>-</a:t>
            </a:r>
            <a:r>
              <a:rPr dirty="0"/>
              <a:t>49 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873752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BE8424"/>
                </a:solidFill>
                <a:latin typeface="Aptos"/>
              </a:defRPr>
            </a:pPr>
            <a:r>
              <a:t>Local geometry change: R = 0.3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938818"/>
            <a:ext cx="290779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57D4E"/>
                </a:solidFill>
                <a:latin typeface="Aptos"/>
              </a:defRPr>
            </a:pPr>
            <a:r>
              <a:rPr dirty="0"/>
              <a:t>Redesigned breakage zone: 18</a:t>
            </a:r>
            <a:r>
              <a:rPr lang="en-SE" dirty="0"/>
              <a:t>-</a:t>
            </a:r>
            <a:r>
              <a:rPr dirty="0"/>
              <a:t>24 MPa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42432"/>
            <a:ext cx="10863072" cy="566928"/>
          </a:xfrm>
          <a:prstGeom prst="roundRect">
            <a:avLst/>
          </a:prstGeom>
          <a:solidFill>
            <a:srgbClr val="E8F5ED"/>
          </a:solidFill>
          <a:ln>
            <a:solidFill>
              <a:srgbClr val="A6D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824728"/>
            <a:ext cx="10424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20" b="1">
                <a:solidFill>
                  <a:srgbClr val="257D4E"/>
                </a:solidFill>
                <a:latin typeface="Aptos"/>
              </a:defRPr>
            </a:pPr>
            <a:r>
              <a:t>RECOMMENDATION  ✓  Implement the 0.3 mm radius at the ABS tendon-canal exit for the next physical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08103"/>
            <a:ext cx="107899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22B46"/>
                </a:solidFill>
                <a:latin typeface="Aptos"/>
              </a:defRPr>
            </a:pPr>
            <a:r>
              <a:rPr dirty="0"/>
              <a:t>Engineering outcome: observed failure → FEA root-cause correlation → targeted 0.3 mm fillet → critical-zone stress reduced to 18</a:t>
            </a:r>
            <a:r>
              <a:rPr lang="en-SE" dirty="0"/>
              <a:t>-</a:t>
            </a:r>
            <a:r>
              <a:rPr dirty="0"/>
              <a:t>24 MPa → design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1039</Words>
  <Application>Microsoft Macintosh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Tapiwanashe Frederick Phiri</cp:lastModifiedBy>
  <cp:revision>3</cp:revision>
  <dcterms:created xsi:type="dcterms:W3CDTF">2013-01-27T09:14:16Z</dcterms:created>
  <dcterms:modified xsi:type="dcterms:W3CDTF">2026-09-14T18:36:38Z</dcterms:modified>
  <cp:category/>
</cp:coreProperties>
</file>